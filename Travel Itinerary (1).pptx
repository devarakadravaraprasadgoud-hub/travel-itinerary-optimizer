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Bebas Neue" panose="020B0606020202050201" pitchFamily="34" charset="0"/>
      <p:regular r:id="rId11"/>
    </p:embeddedFont>
    <p:embeddedFont>
      <p:font typeface="Bebas Neue Bold" panose="020B0604020202020204" charset="0"/>
      <p:regular r:id="rId12"/>
    </p:embeddedFont>
    <p:embeddedFont>
      <p:font typeface="Open Sans" panose="020B0606030504020204" pitchFamily="34" charset="0"/>
      <p:regular r:id="rId13"/>
    </p:embeddedFont>
    <p:embeddedFont>
      <p:font typeface="Open Sans Bold" panose="020B0806030504020204" charset="0"/>
      <p:regular r:id="rId14"/>
    </p:embeddedFont>
    <p:embeddedFont>
      <p:font typeface="Open Sans Light" panose="020B0306030504020204" pitchFamily="34" charset="0"/>
      <p:regular r:id="rId15"/>
    </p:embeddedFont>
    <p:embeddedFont>
      <p:font typeface="Open Sans Semi-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99D8B3-D939-48CC-9F7A-852CC3BE0E8A}" v="1" dt="2026-10-03T09:01:17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A PRASADD GOUD" userId="bc43603778479848" providerId="LiveId" clId="{7A6F464D-CAC2-4C95-B8CC-DBBE0160A2A0}"/>
    <pc:docChg chg="undo custSel addSld modSld sldOrd">
      <pc:chgData name="VARA PRASADD GOUD" userId="bc43603778479848" providerId="LiveId" clId="{7A6F464D-CAC2-4C95-B8CC-DBBE0160A2A0}" dt="2026-10-03T09:03:11.208" v="159" actId="21"/>
      <pc:docMkLst>
        <pc:docMk/>
      </pc:docMkLst>
      <pc:sldChg chg="addSp delSp modSp mod">
        <pc:chgData name="VARA PRASADD GOUD" userId="bc43603778479848" providerId="LiveId" clId="{7A6F464D-CAC2-4C95-B8CC-DBBE0160A2A0}" dt="2026-10-03T09:03:11.208" v="159" actId="21"/>
        <pc:sldMkLst>
          <pc:docMk/>
          <pc:sldMk cId="0" sldId="256"/>
        </pc:sldMkLst>
        <pc:spChg chg="add del">
          <ac:chgData name="VARA PRASADD GOUD" userId="bc43603778479848" providerId="LiveId" clId="{7A6F464D-CAC2-4C95-B8CC-DBBE0160A2A0}" dt="2026-10-03T09:03:11.208" v="159" actId="21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VARA PRASADD GOUD" userId="bc43603778479848" providerId="LiveId" clId="{7A6F464D-CAC2-4C95-B8CC-DBBE0160A2A0}" dt="2026-10-03T09:03:10.755" v="158" actId="47"/>
          <ac:spMkLst>
            <pc:docMk/>
            <pc:sldMk cId="0" sldId="256"/>
            <ac:spMk id="10" creationId="{00000000-0000-0000-0000-000000000000}"/>
          </ac:spMkLst>
        </pc:spChg>
        <pc:spChg chg="add del mod">
          <ac:chgData name="VARA PRASADD GOUD" userId="bc43603778479848" providerId="LiveId" clId="{7A6F464D-CAC2-4C95-B8CC-DBBE0160A2A0}" dt="2026-10-03T09:03:10.030" v="157" actId="47"/>
          <ac:spMkLst>
            <pc:docMk/>
            <pc:sldMk cId="0" sldId="256"/>
            <ac:spMk id="11" creationId="{00000000-0000-0000-0000-000000000000}"/>
          </ac:spMkLst>
        </pc:spChg>
        <pc:spChg chg="add del">
          <ac:chgData name="VARA PRASADD GOUD" userId="bc43603778479848" providerId="LiveId" clId="{7A6F464D-CAC2-4C95-B8CC-DBBE0160A2A0}" dt="2026-10-03T09:00:52.278" v="1" actId="22"/>
          <ac:spMkLst>
            <pc:docMk/>
            <pc:sldMk cId="0" sldId="256"/>
            <ac:spMk id="13" creationId="{719734AD-29F4-2CA9-0158-BD278B78B1C3}"/>
          </ac:spMkLst>
        </pc:spChg>
      </pc:sldChg>
      <pc:sldChg chg="modSp add mod ord">
        <pc:chgData name="VARA PRASADD GOUD" userId="bc43603778479848" providerId="LiveId" clId="{7A6F464D-CAC2-4C95-B8CC-DBBE0160A2A0}" dt="2026-10-03T09:02:54.669" v="149"/>
        <pc:sldMkLst>
          <pc:docMk/>
          <pc:sldMk cId="0" sldId="263"/>
        </pc:sldMkLst>
        <pc:spChg chg="mod">
          <ac:chgData name="VARA PRASADD GOUD" userId="bc43603778479848" providerId="LiveId" clId="{7A6F464D-CAC2-4C95-B8CC-DBBE0160A2A0}" dt="2026-10-03T09:02:47.972" v="147" actId="20577"/>
          <ac:spMkLst>
            <pc:docMk/>
            <pc:sldMk cId="0" sldId="263"/>
            <ac:spMk id="8" creationId="{23BA36BD-DC45-762F-9F9B-73C051A5A37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0E651-02BA-4171-9D71-4F345791156D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BBFBB-9321-430E-9DC7-9CB4D2EE82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077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C550C-33A9-4294-B307-C8BA9B8F65E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6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" Type="http://schemas.openxmlformats.org/officeDocument/2006/relationships/image" Target="../media/image55.png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5" Type="http://schemas.openxmlformats.org/officeDocument/2006/relationships/image" Target="../media/image6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230101" y="1668730"/>
            <a:ext cx="5263517" cy="3882494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808094" y="171452"/>
            <a:ext cx="8639177" cy="611507"/>
          </a:xfrm>
          <a:prstGeom prst="rect">
            <a:avLst/>
          </a:prstGeom>
        </p:spPr>
        <p:txBody>
          <a:bodyPr wrap="none" lIns="0" tIns="0" rIns="0" bIns="0" rtlCol="0" anchor="ctr" anchorCtr="1"/>
          <a:lstStyle/>
          <a:p>
            <a:pPr marL="2497394" hangingPunct="0">
              <a:lnSpc>
                <a:spcPts val="4814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" sz="4800" dirty="0">
                <a:solidFill>
                  <a:srgbClr val="781F6C"/>
                </a:solidFill>
                <a:latin typeface="Times New Roman"/>
              </a:rPr>
              <a:t>MALLA REDDY TECHNICAL CAMPUS</a:t>
            </a:r>
            <a:endParaRPr lang="en-US" sz="1650" dirty="0"/>
          </a:p>
        </p:txBody>
      </p:sp>
      <p:sp>
        <p:nvSpPr>
          <p:cNvPr id="4" name="TextBox 4"/>
          <p:cNvSpPr txBox="1"/>
          <p:nvPr/>
        </p:nvSpPr>
        <p:spPr>
          <a:xfrm>
            <a:off x="4227197" y="836296"/>
            <a:ext cx="7894320" cy="1175387"/>
          </a:xfrm>
          <a:prstGeom prst="rect">
            <a:avLst/>
          </a:prstGeom>
        </p:spPr>
        <p:txBody>
          <a:bodyPr vert="horz" wrap="none" lIns="0" tIns="0" rIns="0" bIns="0" rtlCol="0" anchor="ctr" anchorCtr="1"/>
          <a:lstStyle/>
          <a:p>
            <a:pPr algn="l">
              <a:defRPr/>
            </a:pPr>
            <a:endParaRPr lang="en-US" sz="1650" dirty="0"/>
          </a:p>
          <a:p>
            <a:pPr marR="701022" algn="r" hangingPunct="0">
              <a:lnSpc>
                <a:spcPts val="2070"/>
              </a:lnSpc>
              <a:spcBef>
                <a:spcPts val="418"/>
              </a:spcBef>
              <a:spcAft>
                <a:spcPct val="0"/>
              </a:spcAft>
            </a:pPr>
            <a:r>
              <a:rPr lang="en-US" sz="2027" spc="-50" dirty="0">
                <a:latin typeface="Times New Roman"/>
              </a:rPr>
              <a:t>A constituent Unit of MALLA REDDY VISHWAVIDYAPEETH</a:t>
            </a:r>
          </a:p>
          <a:p>
            <a:pPr marR="2632644" algn="r" hangingPunct="0">
              <a:lnSpc>
                <a:spcPts val="2250"/>
              </a:lnSpc>
              <a:spcBef>
                <a:spcPts val="120"/>
              </a:spcBef>
              <a:spcAft>
                <a:spcPct val="0"/>
              </a:spcAft>
            </a:pPr>
            <a:r>
              <a:rPr lang="en-US" sz="2250" spc="23" dirty="0">
                <a:latin typeface="Times New Roman"/>
              </a:rPr>
              <a:t>(Deemed to be University)</a:t>
            </a:r>
          </a:p>
          <a:p>
            <a:pPr marR="1929719" algn="r" hangingPunct="0">
              <a:lnSpc>
                <a:spcPts val="2070"/>
              </a:lnSpc>
              <a:spcBef>
                <a:spcPts val="330"/>
              </a:spcBef>
              <a:spcAft>
                <a:spcPct val="0"/>
              </a:spcAft>
            </a:pPr>
            <a:r>
              <a:rPr lang="en-US" sz="2027" spc="50" dirty="0">
                <a:latin typeface="Times New Roman"/>
              </a:rPr>
              <a:t>Approved by UGC &amp; AICTE New Delhi</a:t>
            </a:r>
          </a:p>
          <a:p>
            <a:pPr marR="325748" algn="r" hangingPunct="0">
              <a:lnSpc>
                <a:spcPts val="2070"/>
              </a:lnSpc>
              <a:spcBef>
                <a:spcPts val="344"/>
              </a:spcBef>
              <a:spcAft>
                <a:spcPct val="0"/>
              </a:spcAft>
            </a:pPr>
            <a:r>
              <a:rPr lang="en-US" sz="2027" u="sng" spc="50" dirty="0" err="1">
                <a:latin typeface="Times New Roman"/>
              </a:rPr>
              <a:t>Maisammaguda</a:t>
            </a:r>
            <a:r>
              <a:rPr lang="en-US" sz="2027" u="sng" spc="50" dirty="0">
                <a:latin typeface="Times New Roman"/>
              </a:rPr>
              <a:t>, </a:t>
            </a:r>
            <a:r>
              <a:rPr lang="en-US" sz="2027" u="sng" spc="50" dirty="0" err="1">
                <a:latin typeface="Times New Roman"/>
              </a:rPr>
              <a:t>Medchal</a:t>
            </a:r>
            <a:r>
              <a:rPr lang="en-US" sz="2027" u="sng" spc="50" dirty="0">
                <a:latin typeface="Times New Roman"/>
              </a:rPr>
              <a:t> (</a:t>
            </a:r>
            <a:r>
              <a:rPr lang="en-US" sz="2027" u="sng" spc="50" dirty="0" err="1">
                <a:latin typeface="Times New Roman"/>
              </a:rPr>
              <a:t>Dist</a:t>
            </a:r>
            <a:r>
              <a:rPr lang="en-US" sz="2027" u="sng" spc="50" dirty="0">
                <a:latin typeface="Times New Roman"/>
              </a:rPr>
              <a:t>), Hyderabad – 500100, Telangana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10641" y="2857501"/>
            <a:ext cx="12858584" cy="6811286"/>
          </a:xfrm>
          <a:prstGeom prst="rect">
            <a:avLst/>
          </a:prstGeom>
        </p:spPr>
        <p:txBody>
          <a:bodyPr vert="horz" wrap="none" lIns="0" tIns="0" rIns="0" bIns="0" rtlCol="0" anchor="ctr" anchorCtr="1"/>
          <a:lstStyle/>
          <a:p>
            <a:pPr algn="l">
              <a:defRPr/>
            </a:pPr>
            <a:endParaRPr lang="en-US" sz="16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E9ADC-B9DD-40BC-1E40-597C7FBFB66A}"/>
              </a:ext>
            </a:extLst>
          </p:cNvPr>
          <p:cNvSpPr txBox="1"/>
          <p:nvPr/>
        </p:nvSpPr>
        <p:spPr>
          <a:xfrm>
            <a:off x="8458200" y="4849586"/>
            <a:ext cx="13716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7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BA36BD-DC45-762F-9F9B-73C051A5A377}"/>
              </a:ext>
            </a:extLst>
          </p:cNvPr>
          <p:cNvSpPr txBox="1"/>
          <p:nvPr/>
        </p:nvSpPr>
        <p:spPr>
          <a:xfrm>
            <a:off x="794384" y="3543301"/>
            <a:ext cx="16699232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85863" lvl="1" indent="-571485" hangingPunct="0">
              <a:spcBef>
                <a:spcPts val="587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spc="-77" dirty="0">
                <a:latin typeface="Arial" panose="020B0604020202020204" pitchFamily="34" charset="0"/>
                <a:cs typeface="Arial" panose="020B0604020202020204" pitchFamily="34" charset="0"/>
              </a:rPr>
              <a:t>TEAM MEMBERS :</a:t>
            </a:r>
          </a:p>
          <a:p>
            <a:pPr marL="1485863" lvl="1" indent="-571485" hangingPunct="0">
              <a:spcBef>
                <a:spcPts val="587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spc="-77" dirty="0" err="1">
                <a:latin typeface="Arial" panose="020B0604020202020204" pitchFamily="34" charset="0"/>
                <a:cs typeface="Arial" panose="020B0604020202020204" pitchFamily="34" charset="0"/>
              </a:rPr>
              <a:t>Devarakadra</a:t>
            </a:r>
            <a:r>
              <a:rPr lang="en-US" sz="3600" b="1" spc="-7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-77" dirty="0" err="1">
                <a:latin typeface="Arial" panose="020B0604020202020204" pitchFamily="34" charset="0"/>
                <a:cs typeface="Arial" panose="020B0604020202020204" pitchFamily="34" charset="0"/>
              </a:rPr>
              <a:t>varaprasad</a:t>
            </a:r>
            <a:r>
              <a:rPr lang="en-US" sz="3600" b="1" spc="-7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-77" dirty="0" err="1">
                <a:latin typeface="Arial" panose="020B0604020202020204" pitchFamily="34" charset="0"/>
                <a:cs typeface="Arial" panose="020B0604020202020204" pitchFamily="34" charset="0"/>
              </a:rPr>
              <a:t>goud</a:t>
            </a:r>
            <a:endParaRPr lang="en-US" sz="3600" b="1" spc="-7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863" lvl="1" indent="-571485" hangingPunct="0">
              <a:spcBef>
                <a:spcPts val="587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spc="-77" dirty="0" err="1">
                <a:latin typeface="Arial" panose="020B0604020202020204" pitchFamily="34" charset="0"/>
                <a:cs typeface="Arial" panose="020B0604020202020204" pitchFamily="34" charset="0"/>
              </a:rPr>
              <a:t>Naruje</a:t>
            </a:r>
            <a:r>
              <a:rPr lang="en-US" sz="3600" b="1" spc="-77" dirty="0">
                <a:latin typeface="Arial" panose="020B0604020202020204" pitchFamily="34" charset="0"/>
                <a:cs typeface="Arial" panose="020B0604020202020204" pitchFamily="34" charset="0"/>
              </a:rPr>
              <a:t> Srinivas</a:t>
            </a:r>
          </a:p>
          <a:p>
            <a:pPr marL="1485863" lvl="1" indent="-571485" hangingPunct="0">
              <a:spcBef>
                <a:spcPts val="587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spc="-77" dirty="0" err="1">
                <a:latin typeface="Arial" panose="020B0604020202020204" pitchFamily="34" charset="0"/>
                <a:cs typeface="Arial" panose="020B0604020202020204" pitchFamily="34" charset="0"/>
              </a:rPr>
              <a:t>Varanganti</a:t>
            </a:r>
            <a:r>
              <a:rPr lang="en-US" sz="3600" b="1" spc="-77" dirty="0">
                <a:latin typeface="Arial" panose="020B0604020202020204" pitchFamily="34" charset="0"/>
                <a:cs typeface="Arial" panose="020B0604020202020204" pitchFamily="34" charset="0"/>
              </a:rPr>
              <a:t> Lokesh</a:t>
            </a:r>
          </a:p>
          <a:p>
            <a:pPr marL="1485863" lvl="1" indent="-571485" hangingPunct="0">
              <a:spcBef>
                <a:spcPts val="587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spc="-77" dirty="0">
                <a:latin typeface="Arial" panose="020B0604020202020204" pitchFamily="34" charset="0"/>
                <a:cs typeface="Arial" panose="020B0604020202020204" pitchFamily="34" charset="0"/>
              </a:rPr>
              <a:t>Palla </a:t>
            </a:r>
            <a:r>
              <a:rPr lang="en-US" sz="3600" b="1" spc="-77" dirty="0" err="1">
                <a:latin typeface="Arial" panose="020B0604020202020204" pitchFamily="34" charset="0"/>
                <a:cs typeface="Arial" panose="020B0604020202020204" pitchFamily="34" charset="0"/>
              </a:rPr>
              <a:t>bhanuprakash</a:t>
            </a:r>
            <a:r>
              <a:rPr lang="en-US" sz="3600" b="1" spc="-7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spc="-77" dirty="0" err="1">
                <a:latin typeface="Arial" panose="020B0604020202020204" pitchFamily="34" charset="0"/>
                <a:cs typeface="Arial" panose="020B0604020202020204" pitchFamily="34" charset="0"/>
              </a:rPr>
              <a:t>reddy</a:t>
            </a:r>
            <a:endParaRPr lang="en-US" sz="3600" b="1" spc="-77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485863" lvl="1" indent="-571485" hangingPunct="0">
              <a:spcBef>
                <a:spcPts val="587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3600" b="1" spc="-77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485863" lvl="1" indent="-571485" hangingPunct="0">
              <a:spcBef>
                <a:spcPts val="587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3600" b="1" spc="-7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48622" y="1705390"/>
            <a:ext cx="11539378" cy="7083928"/>
          </a:xfrm>
          <a:custGeom>
            <a:avLst/>
            <a:gdLst/>
            <a:ahLst/>
            <a:cxnLst/>
            <a:rect l="l" t="t" r="r" b="b"/>
            <a:pathLst>
              <a:path w="11539378" h="7083928">
                <a:moveTo>
                  <a:pt x="0" y="0"/>
                </a:moveTo>
                <a:lnTo>
                  <a:pt x="11539378" y="0"/>
                </a:lnTo>
                <a:lnTo>
                  <a:pt x="11539378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32645" y="1177694"/>
            <a:ext cx="3708138" cy="1590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33"/>
              </a:lnSpc>
            </a:pPr>
            <a:r>
              <a:rPr lang="en-US" sz="11833" b="1" spc="236">
                <a:solidFill>
                  <a:srgbClr val="F6F6F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TRAVEL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8333" y="2518109"/>
            <a:ext cx="5139372" cy="1590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833"/>
              </a:lnSpc>
            </a:pPr>
            <a:r>
              <a:rPr lang="en-US" sz="11833" b="1" spc="236">
                <a:solidFill>
                  <a:srgbClr val="2CB1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ITINERARY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0525" y="3879031"/>
            <a:ext cx="4920113" cy="1492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37"/>
              </a:lnSpc>
            </a:pPr>
            <a:r>
              <a:rPr lang="en-US" sz="11137" b="1" spc="222">
                <a:solidFill>
                  <a:srgbClr val="F6F6F6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OPTIMIZER</a:t>
            </a:r>
          </a:p>
        </p:txBody>
      </p:sp>
      <p:sp>
        <p:nvSpPr>
          <p:cNvPr id="7" name="Freeform 7"/>
          <p:cNvSpPr/>
          <p:nvPr/>
        </p:nvSpPr>
        <p:spPr>
          <a:xfrm>
            <a:off x="645330" y="5356674"/>
            <a:ext cx="2187560" cy="218640"/>
          </a:xfrm>
          <a:custGeom>
            <a:avLst/>
            <a:gdLst/>
            <a:ahLst/>
            <a:cxnLst/>
            <a:rect l="l" t="t" r="r" b="b"/>
            <a:pathLst>
              <a:path w="2187560" h="218640">
                <a:moveTo>
                  <a:pt x="0" y="0"/>
                </a:moveTo>
                <a:lnTo>
                  <a:pt x="2187560" y="0"/>
                </a:lnTo>
                <a:lnTo>
                  <a:pt x="2187560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35632" y="5838341"/>
            <a:ext cx="6088324" cy="92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917">
                <a:solidFill>
                  <a:srgbClr val="2CB1FA"/>
                </a:solidFill>
                <a:latin typeface="Bebas Neue"/>
                <a:ea typeface="Bebas Neue"/>
                <a:cs typeface="Bebas Neue"/>
                <a:sym typeface="Bebas Neue"/>
              </a:rPr>
              <a:t>Multi-city route optimization</a:t>
            </a:r>
          </a:p>
          <a:p>
            <a:pPr algn="l">
              <a:lnSpc>
                <a:spcPts val="3792"/>
              </a:lnSpc>
            </a:pPr>
            <a:r>
              <a:rPr lang="en-US" sz="2917">
                <a:solidFill>
                  <a:srgbClr val="2CB1FA"/>
                </a:solidFill>
                <a:latin typeface="Bebas Neue"/>
                <a:ea typeface="Bebas Neue"/>
                <a:cs typeface="Bebas Neue"/>
                <a:sym typeface="Bebas Neue"/>
              </a:rPr>
              <a:t>under time and duration constraints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9963" y="7013087"/>
            <a:ext cx="5655309" cy="929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92"/>
              </a:lnSpc>
            </a:pPr>
            <a:r>
              <a:rPr lang="en-US" sz="2917">
                <a:solidFill>
                  <a:srgbClr val="F6F6F6"/>
                </a:solidFill>
                <a:latin typeface="Bebas Neue"/>
                <a:ea typeface="Bebas Neue"/>
                <a:cs typeface="Bebas Neue"/>
                <a:sym typeface="Bebas Neue"/>
              </a:rPr>
              <a:t>An explainable, algorithm-centric</a:t>
            </a:r>
          </a:p>
          <a:p>
            <a:pPr algn="l">
              <a:lnSpc>
                <a:spcPts val="3792"/>
              </a:lnSpc>
            </a:pPr>
            <a:r>
              <a:rPr lang="en-US" sz="2917">
                <a:solidFill>
                  <a:srgbClr val="F6F6F6"/>
                </a:solidFill>
                <a:latin typeface="Bebas Neue"/>
                <a:ea typeface="Bebas Neue"/>
                <a:cs typeface="Bebas Neue"/>
                <a:sym typeface="Bebas Neue"/>
              </a:rPr>
              <a:t>DAA prototype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8056" y="8490322"/>
            <a:ext cx="1846011" cy="371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4"/>
              </a:lnSpc>
            </a:pPr>
            <a:endParaRPr lang="en-US" sz="2784" b="1" spc="55" dirty="0">
              <a:solidFill>
                <a:srgbClr val="2CB1FA"/>
              </a:solidFill>
              <a:latin typeface="Bebas Neue Bold"/>
              <a:ea typeface="Bebas Neue Bold"/>
              <a:cs typeface="Bebas Neue Bold"/>
              <a:sym typeface="Bebas Neue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96516" y="8968896"/>
            <a:ext cx="7634883" cy="35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endParaRPr lang="en-US" sz="2250" dirty="0">
              <a:solidFill>
                <a:srgbClr val="F6F6F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0675292" cy="10287000"/>
          </a:xfrm>
          <a:custGeom>
            <a:avLst/>
            <a:gdLst/>
            <a:ahLst/>
            <a:cxnLst/>
            <a:rect l="l" t="t" r="r" b="b"/>
            <a:pathLst>
              <a:path w="10675292" h="10287000">
                <a:moveTo>
                  <a:pt x="0" y="0"/>
                </a:moveTo>
                <a:lnTo>
                  <a:pt x="10675292" y="0"/>
                </a:lnTo>
                <a:lnTo>
                  <a:pt x="106752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55494" y="1529576"/>
            <a:ext cx="7496694" cy="1535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15"/>
              </a:lnSpc>
            </a:pPr>
            <a:r>
              <a:rPr lang="en-US" sz="11415" b="1" spc="228">
                <a:solidFill>
                  <a:srgbClr val="FFFFFF">
                    <a:alpha val="94902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THE CHALLENGE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9664" y="3162803"/>
            <a:ext cx="7079651" cy="1091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306" b="1" spc="-32">
                <a:solidFill>
                  <a:srgbClr val="4DABE2">
                    <a:alpha val="94902"/>
                  </a:srgbClr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Plan the best journey that satisfies real-world constraints.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4711687"/>
            <a:ext cx="3062584" cy="218640"/>
          </a:xfrm>
          <a:custGeom>
            <a:avLst/>
            <a:gdLst/>
            <a:ahLst/>
            <a:cxnLst/>
            <a:rect l="l" t="t" r="r" b="b"/>
            <a:pathLst>
              <a:path w="3062584" h="218640">
                <a:moveTo>
                  <a:pt x="0" y="0"/>
                </a:moveTo>
                <a:lnTo>
                  <a:pt x="3062584" y="0"/>
                </a:lnTo>
                <a:lnTo>
                  <a:pt x="306258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97854" y="5318176"/>
            <a:ext cx="5939595" cy="50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2900" spc="28">
                <a:solidFill>
                  <a:srgbClr val="FFFFFF">
                    <a:alpha val="94902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Minimize total travel expenditure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4929" y="6075323"/>
            <a:ext cx="7232130" cy="469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sz="2742" spc="26">
                <a:solidFill>
                  <a:srgbClr val="FFFFFF">
                    <a:alpha val="94902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Respect opening and closing time windows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4877" y="6839321"/>
            <a:ext cx="6237335" cy="501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6"/>
              </a:lnSpc>
            </a:pPr>
            <a:r>
              <a:rPr lang="en-US" sz="2900" spc="28">
                <a:solidFill>
                  <a:srgbClr val="FFFFFF">
                    <a:alpha val="94902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Stay within maximum trip duration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5796" y="7661829"/>
            <a:ext cx="6145387" cy="977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7"/>
              </a:lnSpc>
            </a:pPr>
            <a:r>
              <a:rPr lang="en-US" sz="2784" spc="27">
                <a:solidFill>
                  <a:srgbClr val="FFFFFF">
                    <a:alpha val="94902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Visit selected locations exactly once</a:t>
            </a:r>
          </a:p>
          <a:p>
            <a:pPr algn="l">
              <a:lnSpc>
                <a:spcPts val="4037"/>
              </a:lnSpc>
            </a:pPr>
            <a:r>
              <a:rPr lang="en-US" sz="2784" spc="27">
                <a:solidFill>
                  <a:srgbClr val="FFFFFF">
                    <a:alpha val="94902"/>
                  </a:srgbClr>
                </a:solidFill>
                <a:latin typeface="Open Sans"/>
                <a:ea typeface="Open Sans"/>
                <a:cs typeface="Open Sans"/>
                <a:sym typeface="Open Sans"/>
              </a:rPr>
              <a:t>and return to origin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445598" y="1497682"/>
            <a:ext cx="6540804" cy="7717983"/>
          </a:xfrm>
          <a:custGeom>
            <a:avLst/>
            <a:gdLst/>
            <a:ahLst/>
            <a:cxnLst/>
            <a:rect l="l" t="t" r="r" b="b"/>
            <a:pathLst>
              <a:path w="6540804" h="7717983">
                <a:moveTo>
                  <a:pt x="0" y="0"/>
                </a:moveTo>
                <a:lnTo>
                  <a:pt x="6540804" y="0"/>
                </a:lnTo>
                <a:lnTo>
                  <a:pt x="6540804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33954" y="902467"/>
            <a:ext cx="6971777" cy="143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19"/>
              </a:lnSpc>
            </a:pPr>
            <a:r>
              <a:rPr lang="en-US" sz="10719" b="1">
                <a:solidFill>
                  <a:srgbClr val="F8F8F8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OUR INNOVATION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350377"/>
            <a:ext cx="2187560" cy="229572"/>
          </a:xfrm>
          <a:custGeom>
            <a:avLst/>
            <a:gdLst/>
            <a:ahLst/>
            <a:cxnLst/>
            <a:rect l="l" t="t" r="r" b="b"/>
            <a:pathLst>
              <a:path w="2187560" h="229572">
                <a:moveTo>
                  <a:pt x="0" y="0"/>
                </a:moveTo>
                <a:lnTo>
                  <a:pt x="2187560" y="0"/>
                </a:lnTo>
                <a:lnTo>
                  <a:pt x="218756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45330" y="2995365"/>
            <a:ext cx="448450" cy="1508614"/>
          </a:xfrm>
          <a:custGeom>
            <a:avLst/>
            <a:gdLst/>
            <a:ahLst/>
            <a:cxnLst/>
            <a:rect l="l" t="t" r="r" b="b"/>
            <a:pathLst>
              <a:path w="448450" h="1508614">
                <a:moveTo>
                  <a:pt x="0" y="0"/>
                </a:moveTo>
                <a:lnTo>
                  <a:pt x="448450" y="0"/>
                </a:lnTo>
                <a:lnTo>
                  <a:pt x="44845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15455" y="3038618"/>
            <a:ext cx="7041986" cy="463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7"/>
              </a:lnSpc>
            </a:pPr>
            <a:r>
              <a:rPr lang="en-US" sz="2654" b="1">
                <a:solidFill>
                  <a:srgbClr val="1EA1E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TSP with Time Windows + Maximum Duration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5875" y="3591674"/>
            <a:ext cx="6429375" cy="76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Plan routes that respect opening/closing times and total trip limits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4493047"/>
            <a:ext cx="448450" cy="1727254"/>
          </a:xfrm>
          <a:custGeom>
            <a:avLst/>
            <a:gdLst/>
            <a:ahLst/>
            <a:cxnLst/>
            <a:rect l="l" t="t" r="r" b="b"/>
            <a:pathLst>
              <a:path w="448450" h="1727254">
                <a:moveTo>
                  <a:pt x="0" y="0"/>
                </a:moveTo>
                <a:lnTo>
                  <a:pt x="448450" y="0"/>
                </a:lnTo>
                <a:lnTo>
                  <a:pt x="44845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37999" y="4679875"/>
            <a:ext cx="4787595" cy="47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784" b="1">
                <a:solidFill>
                  <a:srgbClr val="1EA1E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Branch &amp; Bound with Pruning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5875" y="5248366"/>
            <a:ext cx="6429375" cy="766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Explore fewer possibilities using cost and schedule bounds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6209369"/>
            <a:ext cx="448450" cy="1300906"/>
          </a:xfrm>
          <a:custGeom>
            <a:avLst/>
            <a:gdLst/>
            <a:ahLst/>
            <a:cxnLst/>
            <a:rect l="l" t="t" r="r" b="b"/>
            <a:pathLst>
              <a:path w="448450" h="1300906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15955" y="6321507"/>
            <a:ext cx="6992040" cy="47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784" b="1">
                <a:solidFill>
                  <a:srgbClr val="1EA1E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Bellman-Held-Karp Dynamic Programming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5875" y="6833854"/>
            <a:ext cx="7045523" cy="392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Exact optimization on smaller subproblems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5330" y="7499343"/>
            <a:ext cx="448450" cy="1082267"/>
          </a:xfrm>
          <a:custGeom>
            <a:avLst/>
            <a:gdLst/>
            <a:ahLst/>
            <a:cxnLst/>
            <a:rect l="l" t="t" r="r" b="b"/>
            <a:pathLst>
              <a:path w="448450" h="1082267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36418" y="7571557"/>
            <a:ext cx="4945729" cy="47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784" b="1">
                <a:solidFill>
                  <a:srgbClr val="1EA1E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Greedy Baseline &amp; Benchmark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85875" y="8098964"/>
            <a:ext cx="7045523" cy="392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Compare against a fast heuristic baseline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5330" y="8778386"/>
            <a:ext cx="448450" cy="1082267"/>
          </a:xfrm>
          <a:custGeom>
            <a:avLst/>
            <a:gdLst/>
            <a:ahLst/>
            <a:cxnLst/>
            <a:rect l="l" t="t" r="r" b="b"/>
            <a:pathLst>
              <a:path w="448450" h="1082267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250068" y="8806546"/>
            <a:ext cx="3580691" cy="477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784" b="1">
                <a:solidFill>
                  <a:srgbClr val="1EA1E0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Explainable by Design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5875" y="9349014"/>
            <a:ext cx="7045523" cy="392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Every decision, bound, state, and prune is visible</a:t>
            </a:r>
          </a:p>
        </p:txBody>
      </p:sp>
      <p:sp>
        <p:nvSpPr>
          <p:cNvPr id="20" name="Freeform 20"/>
          <p:cNvSpPr/>
          <p:nvPr/>
        </p:nvSpPr>
        <p:spPr>
          <a:xfrm>
            <a:off x="8268976" y="2776725"/>
            <a:ext cx="2625072" cy="874559"/>
          </a:xfrm>
          <a:custGeom>
            <a:avLst/>
            <a:gdLst/>
            <a:ahLst/>
            <a:cxnLst/>
            <a:rect l="l" t="t" r="r" b="b"/>
            <a:pathLst>
              <a:path w="2625072" h="874559">
                <a:moveTo>
                  <a:pt x="0" y="0"/>
                </a:moveTo>
                <a:lnTo>
                  <a:pt x="2625072" y="0"/>
                </a:lnTo>
                <a:lnTo>
                  <a:pt x="262507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8268976" y="4285339"/>
            <a:ext cx="2843828" cy="863627"/>
          </a:xfrm>
          <a:custGeom>
            <a:avLst/>
            <a:gdLst/>
            <a:ahLst/>
            <a:cxnLst/>
            <a:rect l="l" t="t" r="r" b="b"/>
            <a:pathLst>
              <a:path w="2843828" h="863627">
                <a:moveTo>
                  <a:pt x="0" y="0"/>
                </a:moveTo>
                <a:lnTo>
                  <a:pt x="2843828" y="0"/>
                </a:lnTo>
                <a:lnTo>
                  <a:pt x="284382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8268976" y="5783021"/>
            <a:ext cx="3062584" cy="863627"/>
          </a:xfrm>
          <a:custGeom>
            <a:avLst/>
            <a:gdLst/>
            <a:ahLst/>
            <a:cxnLst/>
            <a:rect l="l" t="t" r="r" b="b"/>
            <a:pathLst>
              <a:path w="3062584" h="863627">
                <a:moveTo>
                  <a:pt x="0" y="0"/>
                </a:moveTo>
                <a:lnTo>
                  <a:pt x="3062584" y="0"/>
                </a:lnTo>
                <a:lnTo>
                  <a:pt x="306258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8268976" y="7280704"/>
            <a:ext cx="3270402" cy="863627"/>
          </a:xfrm>
          <a:custGeom>
            <a:avLst/>
            <a:gdLst/>
            <a:ahLst/>
            <a:cxnLst/>
            <a:rect l="l" t="t" r="r" b="b"/>
            <a:pathLst>
              <a:path w="3270402" h="863627">
                <a:moveTo>
                  <a:pt x="0" y="0"/>
                </a:moveTo>
                <a:lnTo>
                  <a:pt x="3270402" y="0"/>
                </a:lnTo>
                <a:lnTo>
                  <a:pt x="3270402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8268976" y="8570678"/>
            <a:ext cx="4582938" cy="863627"/>
          </a:xfrm>
          <a:custGeom>
            <a:avLst/>
            <a:gdLst/>
            <a:ahLst/>
            <a:cxnLst/>
            <a:rect l="l" t="t" r="r" b="b"/>
            <a:pathLst>
              <a:path w="4582938" h="863627">
                <a:moveTo>
                  <a:pt x="0" y="0"/>
                </a:moveTo>
                <a:lnTo>
                  <a:pt x="4582938" y="0"/>
                </a:lnTo>
                <a:lnTo>
                  <a:pt x="458293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445598" y="634055"/>
            <a:ext cx="6978316" cy="3224936"/>
          </a:xfrm>
          <a:custGeom>
            <a:avLst/>
            <a:gdLst/>
            <a:ahLst/>
            <a:cxnLst/>
            <a:rect l="l" t="t" r="r" b="b"/>
            <a:pathLst>
              <a:path w="6978316" h="3224936">
                <a:moveTo>
                  <a:pt x="0" y="0"/>
                </a:moveTo>
                <a:lnTo>
                  <a:pt x="6978316" y="0"/>
                </a:lnTo>
                <a:lnTo>
                  <a:pt x="697831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537854" y="1767717"/>
            <a:ext cx="2952617" cy="437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1"/>
              </a:lnSpc>
            </a:pPr>
            <a:r>
              <a:rPr lang="en-US" sz="2592" b="1">
                <a:solidFill>
                  <a:srgbClr val="FFFFFF">
                    <a:alpha val="80000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All Possible Routes</a:t>
            </a:r>
          </a:p>
        </p:txBody>
      </p:sp>
      <p:sp>
        <p:nvSpPr>
          <p:cNvPr id="27" name="Freeform 27"/>
          <p:cNvSpPr/>
          <p:nvPr/>
        </p:nvSpPr>
        <p:spPr>
          <a:xfrm>
            <a:off x="10883110" y="2995365"/>
            <a:ext cx="6322048" cy="2579949"/>
          </a:xfrm>
          <a:custGeom>
            <a:avLst/>
            <a:gdLst/>
            <a:ahLst/>
            <a:cxnLst/>
            <a:rect l="l" t="t" r="r" b="b"/>
            <a:pathLst>
              <a:path w="6322048" h="2579949">
                <a:moveTo>
                  <a:pt x="0" y="0"/>
                </a:moveTo>
                <a:lnTo>
                  <a:pt x="6322048" y="0"/>
                </a:lnTo>
                <a:lnTo>
                  <a:pt x="6322048" y="2579948"/>
                </a:lnTo>
                <a:lnTo>
                  <a:pt x="0" y="257994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615245" y="4006451"/>
            <a:ext cx="2797833" cy="39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sz="2408" b="1">
                <a:solidFill>
                  <a:srgbClr val="FFFFFF">
                    <a:alpha val="80000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Bounding &amp; Pruning</a:t>
            </a:r>
          </a:p>
        </p:txBody>
      </p:sp>
      <p:sp>
        <p:nvSpPr>
          <p:cNvPr id="29" name="Freeform 29"/>
          <p:cNvSpPr/>
          <p:nvPr/>
        </p:nvSpPr>
        <p:spPr>
          <a:xfrm>
            <a:off x="11101866" y="4711687"/>
            <a:ext cx="5884536" cy="2361309"/>
          </a:xfrm>
          <a:custGeom>
            <a:avLst/>
            <a:gdLst/>
            <a:ahLst/>
            <a:cxnLst/>
            <a:rect l="l" t="t" r="r" b="b"/>
            <a:pathLst>
              <a:path w="5884536" h="2361309">
                <a:moveTo>
                  <a:pt x="0" y="0"/>
                </a:moveTo>
                <a:lnTo>
                  <a:pt x="5884536" y="0"/>
                </a:lnTo>
                <a:lnTo>
                  <a:pt x="588453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2805019" y="5557717"/>
            <a:ext cx="2418286" cy="39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sz="2408" b="1">
                <a:solidFill>
                  <a:srgbClr val="FFFFFF">
                    <a:alpha val="80000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Promising States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320622" y="6428009"/>
            <a:ext cx="5228268" cy="1934962"/>
          </a:xfrm>
          <a:custGeom>
            <a:avLst/>
            <a:gdLst/>
            <a:ahLst/>
            <a:cxnLst/>
            <a:rect l="l" t="t" r="r" b="b"/>
            <a:pathLst>
              <a:path w="5228268" h="1934962">
                <a:moveTo>
                  <a:pt x="0" y="0"/>
                </a:moveTo>
                <a:lnTo>
                  <a:pt x="5228268" y="0"/>
                </a:lnTo>
                <a:lnTo>
                  <a:pt x="522826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842593" y="7169227"/>
            <a:ext cx="2343138" cy="396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2"/>
              </a:lnSpc>
            </a:pPr>
            <a:r>
              <a:rPr lang="en-US" sz="2408" b="1">
                <a:solidFill>
                  <a:srgbClr val="FFFFFF">
                    <a:alpha val="80000"/>
                  </a:srgbClr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Optimal Solution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12622220" y="8352038"/>
            <a:ext cx="2843828" cy="1508614"/>
          </a:xfrm>
          <a:custGeom>
            <a:avLst/>
            <a:gdLst/>
            <a:ahLst/>
            <a:cxnLst/>
            <a:rect l="l" t="t" r="r" b="b"/>
            <a:pathLst>
              <a:path w="2843828" h="1508614">
                <a:moveTo>
                  <a:pt x="0" y="0"/>
                </a:moveTo>
                <a:lnTo>
                  <a:pt x="2843828" y="0"/>
                </a:lnTo>
                <a:lnTo>
                  <a:pt x="2843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3720" y="1081400"/>
            <a:ext cx="5600664" cy="654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1"/>
              </a:lnSpc>
            </a:pPr>
            <a:r>
              <a:rPr lang="en-US" sz="4921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HOW IT WORKS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21049" y="2083661"/>
            <a:ext cx="7546626" cy="42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3128">
                <a:solidFill>
                  <a:srgbClr val="2F9FDD"/>
                </a:solidFill>
                <a:latin typeface="Bebas Neue"/>
                <a:ea typeface="Bebas Neue"/>
                <a:cs typeface="Bebas Neue"/>
                <a:sym typeface="Bebas Neue"/>
              </a:rPr>
              <a:t>From data to the optimal feasible itinerary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776725"/>
            <a:ext cx="3937608" cy="6657580"/>
          </a:xfrm>
          <a:custGeom>
            <a:avLst/>
            <a:gdLst/>
            <a:ahLst/>
            <a:cxnLst/>
            <a:rect l="l" t="t" r="r" b="b"/>
            <a:pathLst>
              <a:path w="3937608" h="6657580">
                <a:moveTo>
                  <a:pt x="0" y="0"/>
                </a:moveTo>
                <a:lnTo>
                  <a:pt x="3937608" y="0"/>
                </a:lnTo>
                <a:lnTo>
                  <a:pt x="3937608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85185" y="3251895"/>
            <a:ext cx="601052" cy="687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5151" b="1" spc="256">
                <a:solidFill>
                  <a:srgbClr val="2F9FD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1195" y="3975939"/>
            <a:ext cx="2678906" cy="117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227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Provide destinations, coordinates, fees, hours and travel data</a:t>
            </a:r>
          </a:p>
        </p:txBody>
      </p:sp>
      <p:sp>
        <p:nvSpPr>
          <p:cNvPr id="8" name="Freeform 8"/>
          <p:cNvSpPr/>
          <p:nvPr/>
        </p:nvSpPr>
        <p:spPr>
          <a:xfrm>
            <a:off x="864086" y="5564382"/>
            <a:ext cx="2843828" cy="3443576"/>
          </a:xfrm>
          <a:custGeom>
            <a:avLst/>
            <a:gdLst/>
            <a:ahLst/>
            <a:cxnLst/>
            <a:rect l="l" t="t" r="r" b="b"/>
            <a:pathLst>
              <a:path w="2843828" h="3443576">
                <a:moveTo>
                  <a:pt x="0" y="0"/>
                </a:moveTo>
                <a:lnTo>
                  <a:pt x="2843828" y="0"/>
                </a:lnTo>
                <a:lnTo>
                  <a:pt x="2843828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915732" y="5990729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353244" y="2776725"/>
            <a:ext cx="3270402" cy="6657580"/>
          </a:xfrm>
          <a:custGeom>
            <a:avLst/>
            <a:gdLst/>
            <a:ahLst/>
            <a:cxnLst/>
            <a:rect l="l" t="t" r="r" b="b"/>
            <a:pathLst>
              <a:path w="3270402" h="6657580">
                <a:moveTo>
                  <a:pt x="0" y="0"/>
                </a:moveTo>
                <a:lnTo>
                  <a:pt x="3270402" y="0"/>
                </a:lnTo>
                <a:lnTo>
                  <a:pt x="3270402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789232" y="3251895"/>
            <a:ext cx="601052" cy="687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5151" b="1" spc="256">
                <a:solidFill>
                  <a:srgbClr val="2F9FD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95242" y="3970961"/>
            <a:ext cx="2678906" cy="77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2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graph and cost/time matrices</a:t>
            </a:r>
          </a:p>
        </p:txBody>
      </p:sp>
      <p:sp>
        <p:nvSpPr>
          <p:cNvPr id="13" name="Freeform 13"/>
          <p:cNvSpPr/>
          <p:nvPr/>
        </p:nvSpPr>
        <p:spPr>
          <a:xfrm>
            <a:off x="4779818" y="5138034"/>
            <a:ext cx="2187560" cy="1934962"/>
          </a:xfrm>
          <a:custGeom>
            <a:avLst/>
            <a:gdLst/>
            <a:ahLst/>
            <a:cxnLst/>
            <a:rect l="l" t="t" r="r" b="b"/>
            <a:pathLst>
              <a:path w="2187560" h="1934962">
                <a:moveTo>
                  <a:pt x="0" y="0"/>
                </a:moveTo>
                <a:lnTo>
                  <a:pt x="2187560" y="0"/>
                </a:lnTo>
                <a:lnTo>
                  <a:pt x="218756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779818" y="7062064"/>
            <a:ext cx="2406316" cy="1945894"/>
          </a:xfrm>
          <a:custGeom>
            <a:avLst/>
            <a:gdLst/>
            <a:ahLst/>
            <a:cxnLst/>
            <a:rect l="l" t="t" r="r" b="b"/>
            <a:pathLst>
              <a:path w="2406316" h="1945894">
                <a:moveTo>
                  <a:pt x="0" y="0"/>
                </a:moveTo>
                <a:lnTo>
                  <a:pt x="2406316" y="0"/>
                </a:lnTo>
                <a:lnTo>
                  <a:pt x="2406316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7175196" y="5990729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7612708" y="2776725"/>
            <a:ext cx="3500096" cy="6657580"/>
          </a:xfrm>
          <a:custGeom>
            <a:avLst/>
            <a:gdLst/>
            <a:ahLst/>
            <a:cxnLst/>
            <a:rect l="l" t="t" r="r" b="b"/>
            <a:pathLst>
              <a:path w="3500096" h="6657580">
                <a:moveTo>
                  <a:pt x="0" y="0"/>
                </a:moveTo>
                <a:lnTo>
                  <a:pt x="3500096" y="0"/>
                </a:lnTo>
                <a:lnTo>
                  <a:pt x="3500096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8191443" y="3251895"/>
            <a:ext cx="601052" cy="687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5151" b="1" spc="256">
                <a:solidFill>
                  <a:srgbClr val="2F9FD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97453" y="3970961"/>
            <a:ext cx="2678906" cy="771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22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Generate a greedy upper bound</a:t>
            </a:r>
          </a:p>
        </p:txBody>
      </p:sp>
      <p:sp>
        <p:nvSpPr>
          <p:cNvPr id="19" name="Freeform 19"/>
          <p:cNvSpPr/>
          <p:nvPr/>
        </p:nvSpPr>
        <p:spPr>
          <a:xfrm>
            <a:off x="8268976" y="5356674"/>
            <a:ext cx="2187560" cy="3432644"/>
          </a:xfrm>
          <a:custGeom>
            <a:avLst/>
            <a:gdLst/>
            <a:ahLst/>
            <a:cxnLst/>
            <a:rect l="l" t="t" r="r" b="b"/>
            <a:pathLst>
              <a:path w="2187560" h="3432644">
                <a:moveTo>
                  <a:pt x="0" y="0"/>
                </a:moveTo>
                <a:lnTo>
                  <a:pt x="2187560" y="0"/>
                </a:lnTo>
                <a:lnTo>
                  <a:pt x="2187560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664354" y="5990729"/>
            <a:ext cx="875024" cy="655919"/>
          </a:xfrm>
          <a:custGeom>
            <a:avLst/>
            <a:gdLst/>
            <a:ahLst/>
            <a:cxnLst/>
            <a:rect l="l" t="t" r="r" b="b"/>
            <a:pathLst>
              <a:path w="875024" h="655919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101866" y="2776725"/>
            <a:ext cx="3270402" cy="6657580"/>
          </a:xfrm>
          <a:custGeom>
            <a:avLst/>
            <a:gdLst/>
            <a:ahLst/>
            <a:cxnLst/>
            <a:rect l="l" t="t" r="r" b="b"/>
            <a:pathLst>
              <a:path w="3270402" h="6657580">
                <a:moveTo>
                  <a:pt x="0" y="0"/>
                </a:moveTo>
                <a:lnTo>
                  <a:pt x="3270402" y="0"/>
                </a:lnTo>
                <a:lnTo>
                  <a:pt x="3270402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593654" y="3251895"/>
            <a:ext cx="601052" cy="687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5151" b="1" spc="256">
                <a:solidFill>
                  <a:srgbClr val="2F9FD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99664" y="4154795"/>
            <a:ext cx="2678906" cy="81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Run Branch &amp; Bound and Dynamic Programming</a:t>
            </a:r>
          </a:p>
        </p:txBody>
      </p:sp>
      <p:sp>
        <p:nvSpPr>
          <p:cNvPr id="24" name="Freeform 24"/>
          <p:cNvSpPr/>
          <p:nvPr/>
        </p:nvSpPr>
        <p:spPr>
          <a:xfrm>
            <a:off x="11528440" y="5564382"/>
            <a:ext cx="2625072" cy="2153601"/>
          </a:xfrm>
          <a:custGeom>
            <a:avLst/>
            <a:gdLst/>
            <a:ahLst/>
            <a:cxnLst/>
            <a:rect l="l" t="t" r="r" b="b"/>
            <a:pathLst>
              <a:path w="2625072" h="2153601">
                <a:moveTo>
                  <a:pt x="0" y="0"/>
                </a:moveTo>
                <a:lnTo>
                  <a:pt x="2625072" y="0"/>
                </a:lnTo>
                <a:lnTo>
                  <a:pt x="2625072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1320622" y="7925691"/>
            <a:ext cx="2832890" cy="1082267"/>
          </a:xfrm>
          <a:custGeom>
            <a:avLst/>
            <a:gdLst/>
            <a:ahLst/>
            <a:cxnLst/>
            <a:rect l="l" t="t" r="r" b="b"/>
            <a:pathLst>
              <a:path w="2832890" h="1082267">
                <a:moveTo>
                  <a:pt x="0" y="0"/>
                </a:moveTo>
                <a:lnTo>
                  <a:pt x="2832890" y="0"/>
                </a:lnTo>
                <a:lnTo>
                  <a:pt x="283289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4142574" y="5990729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4580086" y="2776725"/>
            <a:ext cx="3281340" cy="6657580"/>
          </a:xfrm>
          <a:custGeom>
            <a:avLst/>
            <a:gdLst/>
            <a:ahLst/>
            <a:cxnLst/>
            <a:rect l="l" t="t" r="r" b="b"/>
            <a:pathLst>
              <a:path w="3281340" h="6657580">
                <a:moveTo>
                  <a:pt x="0" y="0"/>
                </a:moveTo>
                <a:lnTo>
                  <a:pt x="3281340" y="0"/>
                </a:lnTo>
                <a:lnTo>
                  <a:pt x="3281340" y="6657580"/>
                </a:lnTo>
                <a:lnTo>
                  <a:pt x="0" y="665758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4969075" y="3251895"/>
            <a:ext cx="601052" cy="687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51"/>
              </a:lnSpc>
            </a:pPr>
            <a:r>
              <a:rPr lang="en-US" sz="5151" b="1" spc="256">
                <a:solidFill>
                  <a:srgbClr val="2F9FD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05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975086" y="3975939"/>
            <a:ext cx="2678906" cy="117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0"/>
              </a:lnSpc>
            </a:pPr>
            <a:r>
              <a:rPr lang="en-US" sz="2227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Reconstruct and visualize the optimal feasible itinerary</a:t>
            </a:r>
          </a:p>
        </p:txBody>
      </p:sp>
      <p:sp>
        <p:nvSpPr>
          <p:cNvPr id="30" name="Freeform 30"/>
          <p:cNvSpPr/>
          <p:nvPr/>
        </p:nvSpPr>
        <p:spPr>
          <a:xfrm>
            <a:off x="15017598" y="5564382"/>
            <a:ext cx="2406316" cy="3443576"/>
          </a:xfrm>
          <a:custGeom>
            <a:avLst/>
            <a:gdLst/>
            <a:ahLst/>
            <a:cxnLst/>
            <a:rect l="l" t="t" r="r" b="b"/>
            <a:pathLst>
              <a:path w="2406316" h="3443576">
                <a:moveTo>
                  <a:pt x="0" y="0"/>
                </a:moveTo>
                <a:lnTo>
                  <a:pt x="2406316" y="0"/>
                </a:lnTo>
                <a:lnTo>
                  <a:pt x="2406316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49158" y="1180759"/>
            <a:ext cx="10093553" cy="62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0"/>
              </a:lnSpc>
            </a:pPr>
            <a:r>
              <a:rPr lang="en-US" sz="4710" b="1" spc="46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TECHNOLOGY &amp; ALGORITHM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3096" y="2348235"/>
            <a:ext cx="3378651" cy="4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 b="1" spc="55">
                <a:solidFill>
                  <a:srgbClr val="2BAFF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SYSTEM ARCHITECTURE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2995365"/>
            <a:ext cx="2843828" cy="4296271"/>
          </a:xfrm>
          <a:custGeom>
            <a:avLst/>
            <a:gdLst/>
            <a:ahLst/>
            <a:cxnLst/>
            <a:rect l="l" t="t" r="r" b="b"/>
            <a:pathLst>
              <a:path w="2843828" h="4296271">
                <a:moveTo>
                  <a:pt x="0" y="0"/>
                </a:moveTo>
                <a:lnTo>
                  <a:pt x="2843828" y="0"/>
                </a:lnTo>
                <a:lnTo>
                  <a:pt x="2843828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19721" y="3492859"/>
            <a:ext cx="1257546" cy="4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Frontend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3418" y="4255426"/>
            <a:ext cx="1887868" cy="1080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>
                <a:solidFill>
                  <a:srgbClr val="2BAFF2"/>
                </a:solidFill>
                <a:latin typeface="Bebas Neue"/>
                <a:ea typeface="Bebas Neue"/>
                <a:cs typeface="Bebas Neue"/>
                <a:sym typeface="Bebas Neue"/>
              </a:rPr>
              <a:t>React 19</a:t>
            </a:r>
          </a:p>
          <a:p>
            <a:pPr algn="l">
              <a:lnSpc>
                <a:spcPts val="2924"/>
              </a:lnSpc>
            </a:pPr>
            <a:r>
              <a:rPr lang="en-US" sz="2436">
                <a:solidFill>
                  <a:srgbClr val="2BAFF2"/>
                </a:solidFill>
                <a:latin typeface="Bebas Neue"/>
                <a:ea typeface="Bebas Neue"/>
                <a:cs typeface="Bebas Neue"/>
                <a:sym typeface="Bebas Neue"/>
              </a:rPr>
              <a:t>Vite 8</a:t>
            </a:r>
          </a:p>
          <a:p>
            <a:pPr algn="l">
              <a:lnSpc>
                <a:spcPts val="2924"/>
              </a:lnSpc>
            </a:pPr>
            <a:r>
              <a:rPr lang="en-US" sz="2436">
                <a:solidFill>
                  <a:srgbClr val="2BAFF2"/>
                </a:solidFill>
                <a:latin typeface="Bebas Neue"/>
                <a:ea typeface="Bebas Neue"/>
                <a:cs typeface="Bebas Neue"/>
                <a:sym typeface="Bebas Neue"/>
              </a:rPr>
              <a:t>SVG animations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32297" y="5644840"/>
            <a:ext cx="2223492" cy="64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Interactive itinerary visualization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3478220" y="4493047"/>
            <a:ext cx="1093780" cy="655919"/>
          </a:xfrm>
          <a:custGeom>
            <a:avLst/>
            <a:gdLst/>
            <a:ahLst/>
            <a:cxnLst/>
            <a:rect l="l" t="t" r="r" b="b"/>
            <a:pathLst>
              <a:path w="1093780" h="655919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353244" y="2995365"/>
            <a:ext cx="3051646" cy="4296271"/>
          </a:xfrm>
          <a:custGeom>
            <a:avLst/>
            <a:gdLst/>
            <a:ahLst/>
            <a:cxnLst/>
            <a:rect l="l" t="t" r="r" b="b"/>
            <a:pathLst>
              <a:path w="3051646" h="4296271">
                <a:moveTo>
                  <a:pt x="0" y="0"/>
                </a:moveTo>
                <a:lnTo>
                  <a:pt x="3051646" y="0"/>
                </a:lnTo>
                <a:lnTo>
                  <a:pt x="3051646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024242" y="3492859"/>
            <a:ext cx="1210187" cy="4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Backend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23751" y="4255426"/>
            <a:ext cx="1259323" cy="7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>
                <a:solidFill>
                  <a:srgbClr val="2BAFF2"/>
                </a:solidFill>
                <a:latin typeface="Bebas Neue"/>
                <a:ea typeface="Bebas Neue"/>
                <a:cs typeface="Bebas Neue"/>
                <a:sym typeface="Bebas Neue"/>
              </a:rPr>
              <a:t>Python 3.9</a:t>
            </a:r>
          </a:p>
          <a:p>
            <a:pPr algn="l">
              <a:lnSpc>
                <a:spcPts val="2924"/>
              </a:lnSpc>
            </a:pPr>
            <a:r>
              <a:rPr lang="en-US" sz="2436">
                <a:solidFill>
                  <a:srgbClr val="2BAFF2"/>
                </a:solidFill>
                <a:latin typeface="Bebas Neue"/>
                <a:ea typeface="Bebas Neue"/>
                <a:cs typeface="Bebas Neue"/>
                <a:sym typeface="Bebas Neue"/>
              </a:rPr>
              <a:t>Flask 3.0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036344" y="5619948"/>
            <a:ext cx="2223492" cy="704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5"/>
              </a:lnSpc>
            </a:pPr>
            <a:r>
              <a:rPr lang="en-US" sz="2227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REST API</a:t>
            </a:r>
          </a:p>
          <a:p>
            <a:pPr algn="l">
              <a:lnSpc>
                <a:spcPts val="2895"/>
              </a:lnSpc>
            </a:pPr>
            <a:r>
              <a:rPr lang="en-US" sz="2227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Request handling</a:t>
            </a:r>
          </a:p>
        </p:txBody>
      </p:sp>
      <p:sp>
        <p:nvSpPr>
          <p:cNvPr id="14" name="Freeform 14"/>
          <p:cNvSpPr/>
          <p:nvPr/>
        </p:nvSpPr>
        <p:spPr>
          <a:xfrm>
            <a:off x="7175196" y="4493047"/>
            <a:ext cx="1104718" cy="655919"/>
          </a:xfrm>
          <a:custGeom>
            <a:avLst/>
            <a:gdLst/>
            <a:ahLst/>
            <a:cxnLst/>
            <a:rect l="l" t="t" r="r" b="b"/>
            <a:pathLst>
              <a:path w="1104718" h="655919">
                <a:moveTo>
                  <a:pt x="0" y="0"/>
                </a:moveTo>
                <a:lnTo>
                  <a:pt x="1104718" y="0"/>
                </a:lnTo>
                <a:lnTo>
                  <a:pt x="110471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050220" y="2995365"/>
            <a:ext cx="3062584" cy="4296271"/>
          </a:xfrm>
          <a:custGeom>
            <a:avLst/>
            <a:gdLst/>
            <a:ahLst/>
            <a:cxnLst/>
            <a:rect l="l" t="t" r="r" b="b"/>
            <a:pathLst>
              <a:path w="3062584" h="4296271">
                <a:moveTo>
                  <a:pt x="0" y="0"/>
                </a:moveTo>
                <a:lnTo>
                  <a:pt x="3062584" y="0"/>
                </a:lnTo>
                <a:lnTo>
                  <a:pt x="3062584" y="4296270"/>
                </a:lnTo>
                <a:lnTo>
                  <a:pt x="0" y="42962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714546" y="3492859"/>
            <a:ext cx="1868832" cy="4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Solver Engine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17820" y="4255426"/>
            <a:ext cx="1541403" cy="7234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436">
                <a:solidFill>
                  <a:srgbClr val="2BAFF2"/>
                </a:solidFill>
                <a:latin typeface="Bebas Neue"/>
                <a:ea typeface="Bebas Neue"/>
                <a:cs typeface="Bebas Neue"/>
                <a:sym typeface="Bebas Neue"/>
              </a:rPr>
              <a:t>Optimization Algorithms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33234" y="5796831"/>
            <a:ext cx="2223492" cy="723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4"/>
              </a:lnSpc>
            </a:pPr>
            <a:r>
              <a:rPr lang="en-US" sz="225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Compute optimal and near-optimal routes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957866" y="7062064"/>
            <a:ext cx="2187560" cy="1727254"/>
          </a:xfrm>
          <a:custGeom>
            <a:avLst/>
            <a:gdLst/>
            <a:ahLst/>
            <a:cxnLst/>
            <a:rect l="l" t="t" r="r" b="b"/>
            <a:pathLst>
              <a:path w="2187560" h="1727254">
                <a:moveTo>
                  <a:pt x="0" y="0"/>
                </a:moveTo>
                <a:lnTo>
                  <a:pt x="2187560" y="0"/>
                </a:lnTo>
                <a:lnTo>
                  <a:pt x="218756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3915732" y="7707051"/>
            <a:ext cx="4145426" cy="1727254"/>
          </a:xfrm>
          <a:custGeom>
            <a:avLst/>
            <a:gdLst/>
            <a:ahLst/>
            <a:cxnLst/>
            <a:rect l="l" t="t" r="r" b="b"/>
            <a:pathLst>
              <a:path w="4145426" h="1727254">
                <a:moveTo>
                  <a:pt x="0" y="0"/>
                </a:moveTo>
                <a:lnTo>
                  <a:pt x="4145426" y="0"/>
                </a:lnTo>
                <a:lnTo>
                  <a:pt x="414542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5283454" y="8101476"/>
            <a:ext cx="1434593" cy="4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41"/>
              </a:lnSpc>
            </a:pPr>
            <a:r>
              <a:rPr lang="en-US" sz="278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Data Store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61423" y="8598484"/>
            <a:ext cx="2666297" cy="358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>
                <a:solidFill>
                  <a:srgbClr val="2BAFF2"/>
                </a:solidFill>
                <a:latin typeface="Bebas Neue"/>
                <a:ea typeface="Bebas Neue"/>
                <a:cs typeface="Bebas Neue"/>
                <a:sym typeface="Bebas Neue"/>
              </a:rPr>
              <a:t>Locations &amp; Constraints</a:t>
            </a:r>
          </a:p>
        </p:txBody>
      </p:sp>
      <p:sp>
        <p:nvSpPr>
          <p:cNvPr id="23" name="Freeform 23"/>
          <p:cNvSpPr/>
          <p:nvPr/>
        </p:nvSpPr>
        <p:spPr>
          <a:xfrm>
            <a:off x="7831464" y="7062064"/>
            <a:ext cx="1968804" cy="1519546"/>
          </a:xfrm>
          <a:custGeom>
            <a:avLst/>
            <a:gdLst/>
            <a:ahLst/>
            <a:cxnLst/>
            <a:rect l="l" t="t" r="r" b="b"/>
            <a:pathLst>
              <a:path w="1968804" h="1519546">
                <a:moveTo>
                  <a:pt x="0" y="0"/>
                </a:moveTo>
                <a:lnTo>
                  <a:pt x="1968804" y="0"/>
                </a:lnTo>
                <a:lnTo>
                  <a:pt x="196880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1528440" y="1924030"/>
            <a:ext cx="6114230" cy="7728915"/>
          </a:xfrm>
          <a:custGeom>
            <a:avLst/>
            <a:gdLst/>
            <a:ahLst/>
            <a:cxnLst/>
            <a:rect l="l" t="t" r="r" b="b"/>
            <a:pathLst>
              <a:path w="6114230" h="7728915">
                <a:moveTo>
                  <a:pt x="0" y="0"/>
                </a:moveTo>
                <a:lnTo>
                  <a:pt x="6114230" y="0"/>
                </a:lnTo>
                <a:lnTo>
                  <a:pt x="6114230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2067718" y="2513904"/>
            <a:ext cx="4093799" cy="4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1"/>
              </a:lnSpc>
            </a:pPr>
            <a:r>
              <a:rPr lang="en-US" sz="2784" b="1" spc="55">
                <a:solidFill>
                  <a:srgbClr val="2BAFF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ALGORITHMS &amp; COMPLEXITY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82545" y="3351775"/>
            <a:ext cx="2611079" cy="491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Branch &amp; Bound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80807" y="4008916"/>
            <a:ext cx="2784918" cy="749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0"/>
              </a:lnSpc>
            </a:pPr>
            <a:r>
              <a:rPr lang="en-US" sz="2558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Exponential worst case with pruning</a:t>
            </a:r>
          </a:p>
        </p:txBody>
      </p:sp>
      <p:sp>
        <p:nvSpPr>
          <p:cNvPr id="28" name="Freeform 28"/>
          <p:cNvSpPr/>
          <p:nvPr/>
        </p:nvSpPr>
        <p:spPr>
          <a:xfrm>
            <a:off x="11965952" y="4919394"/>
            <a:ext cx="5239206" cy="229572"/>
          </a:xfrm>
          <a:custGeom>
            <a:avLst/>
            <a:gdLst/>
            <a:ahLst/>
            <a:cxnLst/>
            <a:rect l="l" t="t" r="r" b="b"/>
            <a:pathLst>
              <a:path w="5239206" h="229572">
                <a:moveTo>
                  <a:pt x="0" y="0"/>
                </a:moveTo>
                <a:lnTo>
                  <a:pt x="5239206" y="0"/>
                </a:lnTo>
                <a:lnTo>
                  <a:pt x="523920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086035" y="5339806"/>
            <a:ext cx="2262170" cy="491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Held-Karp DP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081069" y="5972362"/>
            <a:ext cx="2758679" cy="93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6205" b="1" spc="309">
                <a:solidFill>
                  <a:srgbClr val="2BAFF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O(N²2ⁿ)</a:t>
            </a:r>
          </a:p>
        </p:txBody>
      </p:sp>
      <p:sp>
        <p:nvSpPr>
          <p:cNvPr id="31" name="Freeform 31"/>
          <p:cNvSpPr/>
          <p:nvPr/>
        </p:nvSpPr>
        <p:spPr>
          <a:xfrm>
            <a:off x="11965952" y="7062064"/>
            <a:ext cx="5239206" cy="229572"/>
          </a:xfrm>
          <a:custGeom>
            <a:avLst/>
            <a:gdLst/>
            <a:ahLst/>
            <a:cxnLst/>
            <a:rect l="l" t="t" r="r" b="b"/>
            <a:pathLst>
              <a:path w="5239206" h="229572">
                <a:moveTo>
                  <a:pt x="0" y="0"/>
                </a:moveTo>
                <a:lnTo>
                  <a:pt x="5239206" y="0"/>
                </a:lnTo>
                <a:lnTo>
                  <a:pt x="523920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067514" y="7463385"/>
            <a:ext cx="4114234" cy="491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5"/>
              </a:lnSpc>
            </a:pPr>
            <a:r>
              <a:rPr lang="en-US" sz="3254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Greedy Nearest Neighbor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089153" y="8111001"/>
            <a:ext cx="1950370" cy="93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7"/>
              </a:lnSpc>
            </a:pPr>
            <a:r>
              <a:rPr lang="en-US" sz="6205" b="1" spc="309">
                <a:solidFill>
                  <a:srgbClr val="2BAFF2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O(N²)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84127" y="796970"/>
            <a:ext cx="6596643" cy="1352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2"/>
              </a:lnSpc>
            </a:pPr>
            <a:r>
              <a:rPr lang="en-US" sz="10162" b="1" spc="203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DEMO &amp; IMPACT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1924030"/>
            <a:ext cx="2625072" cy="437279"/>
          </a:xfrm>
          <a:custGeom>
            <a:avLst/>
            <a:gdLst/>
            <a:ahLst/>
            <a:cxnLst/>
            <a:rect l="l" t="t" r="r" b="b"/>
            <a:pathLst>
              <a:path w="2625072" h="437279">
                <a:moveTo>
                  <a:pt x="0" y="0"/>
                </a:moveTo>
                <a:lnTo>
                  <a:pt x="2625072" y="0"/>
                </a:lnTo>
                <a:lnTo>
                  <a:pt x="2625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11818" y="2473929"/>
            <a:ext cx="6506497" cy="851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8"/>
              </a:lnSpc>
            </a:pPr>
            <a:r>
              <a:rPr lang="en-US" sz="2652">
                <a:solidFill>
                  <a:srgbClr val="20A0E0"/>
                </a:solidFill>
                <a:latin typeface="Open Sans"/>
                <a:ea typeface="Open Sans"/>
                <a:cs typeface="Open Sans"/>
                <a:sym typeface="Open Sans"/>
              </a:rPr>
              <a:t>Live capabilities that turn complex routing into clear, measurable outcomes.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3640352"/>
            <a:ext cx="6114230" cy="1082267"/>
          </a:xfrm>
          <a:custGeom>
            <a:avLst/>
            <a:gdLst/>
            <a:ahLst/>
            <a:cxnLst/>
            <a:rect l="l" t="t" r="r" b="b"/>
            <a:pathLst>
              <a:path w="6114230" h="1082267">
                <a:moveTo>
                  <a:pt x="0" y="0"/>
                </a:moveTo>
                <a:lnTo>
                  <a:pt x="6114230" y="0"/>
                </a:lnTo>
                <a:lnTo>
                  <a:pt x="611423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84202" y="3818411"/>
            <a:ext cx="3378200" cy="34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211" b="1" spc="-65">
                <a:solidFill>
                  <a:srgbClr val="20A0E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INTERACTIVE ROUTE MAP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4711687"/>
            <a:ext cx="6114230" cy="1289974"/>
          </a:xfrm>
          <a:custGeom>
            <a:avLst/>
            <a:gdLst/>
            <a:ahLst/>
            <a:cxnLst/>
            <a:rect l="l" t="t" r="r" b="b"/>
            <a:pathLst>
              <a:path w="6114230" h="1289974">
                <a:moveTo>
                  <a:pt x="0" y="0"/>
                </a:moveTo>
                <a:lnTo>
                  <a:pt x="6114230" y="0"/>
                </a:lnTo>
                <a:lnTo>
                  <a:pt x="611423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80575" y="4956075"/>
            <a:ext cx="3740889" cy="331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</a:pPr>
            <a:r>
              <a:rPr lang="en-US" sz="2081" b="1" spc="-61">
                <a:solidFill>
                  <a:srgbClr val="20A0E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CHRONOLOGICAL ITINERARY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0425" y="5311132"/>
            <a:ext cx="4755959" cy="31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spc="-57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See the wait, visit, and return timeline in order.</a:t>
            </a:r>
          </a:p>
        </p:txBody>
      </p:sp>
      <p:sp>
        <p:nvSpPr>
          <p:cNvPr id="11" name="Freeform 11"/>
          <p:cNvSpPr/>
          <p:nvPr/>
        </p:nvSpPr>
        <p:spPr>
          <a:xfrm>
            <a:off x="645330" y="5783021"/>
            <a:ext cx="6114230" cy="1289974"/>
          </a:xfrm>
          <a:custGeom>
            <a:avLst/>
            <a:gdLst/>
            <a:ahLst/>
            <a:cxnLst/>
            <a:rect l="l" t="t" r="r" b="b"/>
            <a:pathLst>
              <a:path w="6114230" h="1289974">
                <a:moveTo>
                  <a:pt x="0" y="0"/>
                </a:moveTo>
                <a:lnTo>
                  <a:pt x="6114230" y="0"/>
                </a:lnTo>
                <a:lnTo>
                  <a:pt x="611423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79950" y="6085638"/>
            <a:ext cx="3803474" cy="331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</a:pPr>
            <a:r>
              <a:rPr lang="en-US" sz="2081" b="1" spc="-61">
                <a:solidFill>
                  <a:srgbClr val="20A0E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BRANCH &amp; BOUND EXPLORER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4153" y="6455756"/>
            <a:ext cx="5383175" cy="31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spc="-57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Step through the search tree and pruning decisions.</a:t>
            </a:r>
          </a:p>
        </p:txBody>
      </p:sp>
      <p:sp>
        <p:nvSpPr>
          <p:cNvPr id="14" name="Freeform 14"/>
          <p:cNvSpPr/>
          <p:nvPr/>
        </p:nvSpPr>
        <p:spPr>
          <a:xfrm>
            <a:off x="645330" y="6854356"/>
            <a:ext cx="6114230" cy="1289974"/>
          </a:xfrm>
          <a:custGeom>
            <a:avLst/>
            <a:gdLst/>
            <a:ahLst/>
            <a:cxnLst/>
            <a:rect l="l" t="t" r="r" b="b"/>
            <a:pathLst>
              <a:path w="6114230" h="1289974">
                <a:moveTo>
                  <a:pt x="0" y="0"/>
                </a:moveTo>
                <a:lnTo>
                  <a:pt x="6114230" y="0"/>
                </a:lnTo>
                <a:lnTo>
                  <a:pt x="611423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988266" y="7215201"/>
            <a:ext cx="2971818" cy="331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</a:pPr>
            <a:r>
              <a:rPr lang="en-US" sz="2081" b="1" spc="-61">
                <a:solidFill>
                  <a:srgbClr val="20A0E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DP SUBPROBLEM VIEW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7322" y="7585319"/>
            <a:ext cx="5066204" cy="31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spc="-57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Inspect memoized subproblems and transitions.</a:t>
            </a:r>
          </a:p>
        </p:txBody>
      </p:sp>
      <p:sp>
        <p:nvSpPr>
          <p:cNvPr id="17" name="Freeform 17"/>
          <p:cNvSpPr/>
          <p:nvPr/>
        </p:nvSpPr>
        <p:spPr>
          <a:xfrm>
            <a:off x="645330" y="8133399"/>
            <a:ext cx="6114230" cy="1300906"/>
          </a:xfrm>
          <a:custGeom>
            <a:avLst/>
            <a:gdLst/>
            <a:ahLst/>
            <a:cxnLst/>
            <a:rect l="l" t="t" r="r" b="b"/>
            <a:pathLst>
              <a:path w="6114230" h="1300906">
                <a:moveTo>
                  <a:pt x="0" y="0"/>
                </a:moveTo>
                <a:lnTo>
                  <a:pt x="6114230" y="0"/>
                </a:lnTo>
                <a:lnTo>
                  <a:pt x="611423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83767" y="8405007"/>
            <a:ext cx="3421734" cy="331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5"/>
              </a:lnSpc>
            </a:pPr>
            <a:r>
              <a:rPr lang="en-US" sz="2081" b="1" spc="-61">
                <a:solidFill>
                  <a:srgbClr val="20A0E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BENCHMARK DASHBOARD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3902" y="8790295"/>
            <a:ext cx="5408230" cy="317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21"/>
              </a:lnSpc>
            </a:pPr>
            <a:r>
              <a:rPr lang="en-US" sz="1863" spc="-55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Track cost, duration, runtime, states, and pruning ratio.</a:t>
            </a:r>
          </a:p>
        </p:txBody>
      </p:sp>
      <p:sp>
        <p:nvSpPr>
          <p:cNvPr id="20" name="Freeform 20"/>
          <p:cNvSpPr/>
          <p:nvPr/>
        </p:nvSpPr>
        <p:spPr>
          <a:xfrm>
            <a:off x="6529866" y="4066699"/>
            <a:ext cx="3051646" cy="437279"/>
          </a:xfrm>
          <a:custGeom>
            <a:avLst/>
            <a:gdLst/>
            <a:ahLst/>
            <a:cxnLst/>
            <a:rect l="l" t="t" r="r" b="b"/>
            <a:pathLst>
              <a:path w="3051646" h="437279">
                <a:moveTo>
                  <a:pt x="0" y="0"/>
                </a:moveTo>
                <a:lnTo>
                  <a:pt x="3051646" y="0"/>
                </a:lnTo>
                <a:lnTo>
                  <a:pt x="305164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6529866" y="5138034"/>
            <a:ext cx="2832890" cy="229572"/>
          </a:xfrm>
          <a:custGeom>
            <a:avLst/>
            <a:gdLst/>
            <a:ahLst/>
            <a:cxnLst/>
            <a:rect l="l" t="t" r="r" b="b"/>
            <a:pathLst>
              <a:path w="2832890" h="229572">
                <a:moveTo>
                  <a:pt x="0" y="0"/>
                </a:moveTo>
                <a:lnTo>
                  <a:pt x="2832890" y="0"/>
                </a:lnTo>
                <a:lnTo>
                  <a:pt x="283289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529866" y="6209369"/>
            <a:ext cx="2832890" cy="229572"/>
          </a:xfrm>
          <a:custGeom>
            <a:avLst/>
            <a:gdLst/>
            <a:ahLst/>
            <a:cxnLst/>
            <a:rect l="l" t="t" r="r" b="b"/>
            <a:pathLst>
              <a:path w="2832890" h="229572">
                <a:moveTo>
                  <a:pt x="0" y="0"/>
                </a:moveTo>
                <a:lnTo>
                  <a:pt x="2832890" y="0"/>
                </a:lnTo>
                <a:lnTo>
                  <a:pt x="283289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6529866" y="7280704"/>
            <a:ext cx="2832890" cy="437279"/>
          </a:xfrm>
          <a:custGeom>
            <a:avLst/>
            <a:gdLst/>
            <a:ahLst/>
            <a:cxnLst/>
            <a:rect l="l" t="t" r="r" b="b"/>
            <a:pathLst>
              <a:path w="2832890" h="437279">
                <a:moveTo>
                  <a:pt x="0" y="0"/>
                </a:moveTo>
                <a:lnTo>
                  <a:pt x="2832890" y="0"/>
                </a:lnTo>
                <a:lnTo>
                  <a:pt x="283289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6529866" y="7925691"/>
            <a:ext cx="1968804" cy="863627"/>
          </a:xfrm>
          <a:custGeom>
            <a:avLst/>
            <a:gdLst/>
            <a:ahLst/>
            <a:cxnLst/>
            <a:rect l="l" t="t" r="r" b="b"/>
            <a:pathLst>
              <a:path w="1968804" h="863627">
                <a:moveTo>
                  <a:pt x="0" y="0"/>
                </a:moveTo>
                <a:lnTo>
                  <a:pt x="1968804" y="0"/>
                </a:lnTo>
                <a:lnTo>
                  <a:pt x="196880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529866" y="1705390"/>
            <a:ext cx="10675292" cy="8373902"/>
          </a:xfrm>
          <a:custGeom>
            <a:avLst/>
            <a:gdLst/>
            <a:ahLst/>
            <a:cxnLst/>
            <a:rect l="l" t="t" r="r" b="b"/>
            <a:pathLst>
              <a:path w="10675292" h="8373902">
                <a:moveTo>
                  <a:pt x="0" y="0"/>
                </a:moveTo>
                <a:lnTo>
                  <a:pt x="10675292" y="0"/>
                </a:lnTo>
                <a:lnTo>
                  <a:pt x="10675292" y="8373902"/>
                </a:lnTo>
                <a:lnTo>
                  <a:pt x="0" y="837390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0008086" y="3421712"/>
            <a:ext cx="2406316" cy="2372241"/>
          </a:xfrm>
          <a:custGeom>
            <a:avLst/>
            <a:gdLst/>
            <a:ahLst/>
            <a:cxnLst/>
            <a:rect l="l" t="t" r="r" b="b"/>
            <a:pathLst>
              <a:path w="2406316" h="2372241">
                <a:moveTo>
                  <a:pt x="0" y="0"/>
                </a:moveTo>
                <a:lnTo>
                  <a:pt x="2406316" y="0"/>
                </a:lnTo>
                <a:lnTo>
                  <a:pt x="240631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351818" y="6209369"/>
            <a:ext cx="1979742" cy="1727254"/>
          </a:xfrm>
          <a:custGeom>
            <a:avLst/>
            <a:gdLst/>
            <a:ahLst/>
            <a:cxnLst/>
            <a:rect l="l" t="t" r="r" b="b"/>
            <a:pathLst>
              <a:path w="1979742" h="1727254">
                <a:moveTo>
                  <a:pt x="0" y="0"/>
                </a:moveTo>
                <a:lnTo>
                  <a:pt x="1979742" y="0"/>
                </a:lnTo>
                <a:lnTo>
                  <a:pt x="197974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 rot="84375">
            <a:off x="11880218" y="5968375"/>
            <a:ext cx="1447659" cy="224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1406" spc="-41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DP Subproblem Table</a:t>
            </a:r>
          </a:p>
        </p:txBody>
      </p:sp>
      <p:sp>
        <p:nvSpPr>
          <p:cNvPr id="29" name="Freeform 29"/>
          <p:cNvSpPr/>
          <p:nvPr/>
        </p:nvSpPr>
        <p:spPr>
          <a:xfrm>
            <a:off x="11747196" y="6209369"/>
            <a:ext cx="1968804" cy="1934962"/>
          </a:xfrm>
          <a:custGeom>
            <a:avLst/>
            <a:gdLst/>
            <a:ahLst/>
            <a:cxnLst/>
            <a:rect l="l" t="t" r="r" b="b"/>
            <a:pathLst>
              <a:path w="1968804" h="1934962">
                <a:moveTo>
                  <a:pt x="0" y="0"/>
                </a:moveTo>
                <a:lnTo>
                  <a:pt x="1968804" y="0"/>
                </a:lnTo>
                <a:lnTo>
                  <a:pt x="196880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 rot="142382">
            <a:off x="13978482" y="6301688"/>
            <a:ext cx="874827" cy="1752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4"/>
              </a:lnSpc>
            </a:pPr>
            <a:r>
              <a:rPr lang="en-US" sz="1177" spc="-35">
                <a:solidFill>
                  <a:srgbClr val="20A0E0"/>
                </a:solidFill>
                <a:latin typeface="Bebas Neue"/>
                <a:ea typeface="Bebas Neue"/>
                <a:cs typeface="Bebas Neue"/>
                <a:sym typeface="Bebas Neue"/>
              </a:rPr>
              <a:t> Total Cost</a:t>
            </a:r>
          </a:p>
          <a:p>
            <a:pPr algn="l">
              <a:lnSpc>
                <a:spcPts val="2944"/>
              </a:lnSpc>
            </a:pPr>
            <a:r>
              <a:rPr lang="en-US" sz="1177" spc="-35">
                <a:solidFill>
                  <a:srgbClr val="20A0E0"/>
                </a:solidFill>
                <a:latin typeface="Bebas Neue"/>
                <a:ea typeface="Bebas Neue"/>
                <a:cs typeface="Bebas Neue"/>
                <a:sym typeface="Bebas Neue"/>
              </a:rPr>
              <a:t>Total Duration</a:t>
            </a:r>
          </a:p>
          <a:p>
            <a:pPr algn="l">
              <a:lnSpc>
                <a:spcPts val="2944"/>
              </a:lnSpc>
            </a:pPr>
            <a:r>
              <a:rPr lang="en-US" sz="1177" spc="-35">
                <a:solidFill>
                  <a:srgbClr val="20A0E0"/>
                </a:solidFill>
                <a:latin typeface="Bebas Neue"/>
                <a:ea typeface="Bebas Neue"/>
                <a:cs typeface="Bebas Neue"/>
                <a:sym typeface="Bebas Neue"/>
              </a:rPr>
              <a:t>Runtime</a:t>
            </a:r>
          </a:p>
          <a:p>
            <a:pPr algn="l">
              <a:lnSpc>
                <a:spcPts val="2944"/>
              </a:lnSpc>
            </a:pPr>
            <a:r>
              <a:rPr lang="en-US" sz="1177" spc="-35">
                <a:solidFill>
                  <a:srgbClr val="20A0E0"/>
                </a:solidFill>
                <a:latin typeface="Bebas Neue"/>
                <a:ea typeface="Bebas Neue"/>
                <a:cs typeface="Bebas Neue"/>
                <a:sym typeface="Bebas Neue"/>
              </a:rPr>
              <a:t>States Explored</a:t>
            </a:r>
          </a:p>
          <a:p>
            <a:pPr algn="l">
              <a:lnSpc>
                <a:spcPts val="2944"/>
              </a:lnSpc>
            </a:pPr>
            <a:r>
              <a:rPr lang="en-US" sz="1177" spc="-35">
                <a:solidFill>
                  <a:srgbClr val="20A0E0"/>
                </a:solidFill>
                <a:latin typeface="Bebas Neue"/>
                <a:ea typeface="Bebas Neue"/>
                <a:cs typeface="Bebas Neue"/>
                <a:sym typeface="Bebas Neue"/>
              </a:rPr>
              <a:t>Pruning Ratio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64946" y="4181569"/>
            <a:ext cx="5303873" cy="3170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10"/>
              </a:lnSpc>
            </a:pPr>
            <a:r>
              <a:rPr lang="en-US" sz="1931" spc="-57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Visualize the optimized journey on a dynamic map.</a:t>
            </a:r>
          </a:p>
        </p:txBody>
      </p:sp>
      <p:sp>
        <p:nvSpPr>
          <p:cNvPr id="32" name="TextBox 32"/>
          <p:cNvSpPr txBox="1"/>
          <p:nvPr/>
        </p:nvSpPr>
        <p:spPr>
          <a:xfrm rot="84375">
            <a:off x="14049384" y="6013558"/>
            <a:ext cx="1522494" cy="224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1406" spc="-41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Benchmark Dashboard</a:t>
            </a:r>
          </a:p>
        </p:txBody>
      </p:sp>
      <p:sp>
        <p:nvSpPr>
          <p:cNvPr id="33" name="TextBox 33"/>
          <p:cNvSpPr txBox="1"/>
          <p:nvPr/>
        </p:nvSpPr>
        <p:spPr>
          <a:xfrm rot="84375">
            <a:off x="9416148" y="5923152"/>
            <a:ext cx="1395207" cy="19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183" spc="-35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Branch &amp; Bound Explorer</a:t>
            </a:r>
          </a:p>
        </p:txBody>
      </p:sp>
      <p:sp>
        <p:nvSpPr>
          <p:cNvPr id="34" name="TextBox 34"/>
          <p:cNvSpPr txBox="1"/>
          <p:nvPr/>
        </p:nvSpPr>
        <p:spPr>
          <a:xfrm rot="-121289">
            <a:off x="9713436" y="2594752"/>
            <a:ext cx="1049016" cy="224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1406" i="1" spc="-41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Route Optimizer</a:t>
            </a:r>
          </a:p>
        </p:txBody>
      </p:sp>
      <p:sp>
        <p:nvSpPr>
          <p:cNvPr id="35" name="TextBox 35"/>
          <p:cNvSpPr txBox="1"/>
          <p:nvPr/>
        </p:nvSpPr>
        <p:spPr>
          <a:xfrm rot="-121289">
            <a:off x="13061285" y="3031516"/>
            <a:ext cx="1127319" cy="224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1406" i="1" spc="-41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Itinerary Timeline</a:t>
            </a:r>
          </a:p>
        </p:txBody>
      </p:sp>
      <p:sp>
        <p:nvSpPr>
          <p:cNvPr id="36" name="TextBox 36"/>
          <p:cNvSpPr txBox="1"/>
          <p:nvPr/>
        </p:nvSpPr>
        <p:spPr>
          <a:xfrm rot="-121289">
            <a:off x="9717937" y="3151962"/>
            <a:ext cx="598990" cy="192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183" i="1" spc="-35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Route 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5386" y="1062618"/>
            <a:ext cx="6434082" cy="145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59"/>
              </a:lnSpc>
            </a:pPr>
            <a:r>
              <a:rPr lang="en-US" sz="10859" b="1" spc="106">
                <a:solidFill>
                  <a:srgbClr val="F4F4F4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FUTURE VISION</a:t>
            </a:r>
          </a:p>
        </p:txBody>
      </p:sp>
      <p:sp>
        <p:nvSpPr>
          <p:cNvPr id="4" name="Freeform 4"/>
          <p:cNvSpPr/>
          <p:nvPr/>
        </p:nvSpPr>
        <p:spPr>
          <a:xfrm>
            <a:off x="645330" y="2569017"/>
            <a:ext cx="1968804" cy="218640"/>
          </a:xfrm>
          <a:custGeom>
            <a:avLst/>
            <a:gdLst/>
            <a:ahLst/>
            <a:cxnLst/>
            <a:rect l="l" t="t" r="r" b="b"/>
            <a:pathLst>
              <a:path w="1968804" h="218640">
                <a:moveTo>
                  <a:pt x="0" y="0"/>
                </a:moveTo>
                <a:lnTo>
                  <a:pt x="1968804" y="0"/>
                </a:lnTo>
                <a:lnTo>
                  <a:pt x="196880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87230" y="3378894"/>
            <a:ext cx="8249676" cy="42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3128" spc="-3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Explainable optimization prototype achieved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6545" y="4327726"/>
            <a:ext cx="8318136" cy="42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3128" spc="-3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Expand destination and routing data sources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6447" y="5291620"/>
            <a:ext cx="9327964" cy="42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3128" spc="-3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Scale search with stronger bounds and parallelism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6011" y="6255514"/>
            <a:ext cx="8371515" cy="424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3128" spc="-3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Deployment and real-world travel integration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1226" y="7654913"/>
            <a:ext cx="3850036" cy="558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4289" b="1" spc="41">
                <a:solidFill>
                  <a:srgbClr val="19A0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55874" y="8754354"/>
            <a:ext cx="1385230" cy="558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4289" b="1" spc="41">
                <a:solidFill>
                  <a:srgbClr val="F4F4F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424</Words>
  <Application>Microsoft Office PowerPoint</Application>
  <PresentationFormat>Custom</PresentationFormat>
  <Paragraphs>108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Times New Roman</vt:lpstr>
      <vt:lpstr>Calibri</vt:lpstr>
      <vt:lpstr>Open Sans Semi-Bold</vt:lpstr>
      <vt:lpstr>Bebas Neue</vt:lpstr>
      <vt:lpstr>Open Sans Bold</vt:lpstr>
      <vt:lpstr>Bebas Neue Bold</vt:lpstr>
      <vt:lpstr>Open Sans Light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Itinerary Optimizer</dc:title>
  <cp:lastModifiedBy>VARA PRASADD GOUD</cp:lastModifiedBy>
  <cp:revision>1</cp:revision>
  <dcterms:created xsi:type="dcterms:W3CDTF">2006-08-16T00:00:00Z</dcterms:created>
  <dcterms:modified xsi:type="dcterms:W3CDTF">2026-10-03T09:03:15Z</dcterms:modified>
  <dc:identifier>DAHW7l750Wc</dc:identifier>
</cp:coreProperties>
</file>